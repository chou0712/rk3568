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本次汇报围绕室外多设备接入和卫星跟踪控制展开。先介绍总体系统与实物平台，再说明板端和上位机的实现，最后汇总已有验证和待解决问题。资料截至2026年10月20日。</a:t>
            </a:r>
          </a:p>
          <a:p>
            <a:r>
              <a:t>来源：E:/RK3568/HANDOFF.md</a:t>
            </a:r>
          </a:p>
          <a:p>
            <a:r>
              <a:t>E:/RK3568/SOFTWARE_IMPLEMENTATION.md</a:t>
            </a:r>
          </a:p>
          <a:p>
            <a:r>
              <a:t>E:/RK3568/卫星跟踪上位机/README.md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系统以RK3568为室外数据接入与控制节点。摄像头、惯导和转台分别提供视频、姿态和指向控制。上位机承担业务使用和卫星任务计算。射频与供电系统属于总体集成范围，当前汇报重点为数据和控制软件。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为用户提供的总体系统方案，保留原图。蓝色为24V供电，红色标示供电分配，绿色为网络，黑色含串口与光纤连接，橙色为射频。原图的TTL直连、TTL转422和20000/20001端口属于方案标注。当前惯导经TTL转USB接入，转台经USB-RS422接入，分别使用UDP 20002和20003。惯导供电按当前设备规格及接线执行，不能直接依据原图的电源线判断。射频和VDES链路尚无本次验收依据。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E:/RK3568/室外设备.png</a:t>
            </a:r>
          </a:p>
          <a:p>
            <a:r>
              <a:t>E:/RK3568/HANDOFF.md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件图1为用户提供的实验平台照片。照片清晰展示转台、摄像头、开发板、惯导及接线。转换器与具体USB口方向结合交接记录说明，不根据遮挡区域猜测连接。当前网口1接摄像头，网口2接上位机。上方USB连接FTDI转台通道，下方USB连接CP2102惯导通道。</a:t>
            </a:r>
          </a:p>
          <a:p>
            <a:endParaRPr/>
          </a:p>
          <a:p>
            <a:r>
              <a:t>资料来源：</a:t>
            </a:r>
          </a:p>
          <a:p>
            <a:r>
              <a:t>用户附件：666961a15c4a9a0fe4f4ab038bd6d2c9.jpg</a:t>
            </a:r>
          </a:p>
          <a:p>
            <a:r>
              <a:t>E:/RK3568/HANDOFF.md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三条业务通道的处理层次不同。摄像头在二层转发，惯导在应用层解析并重新封装，转台保留原生AA协议并进行合法性校验。转台链路双向，视频访问也包括控制请求和回传。示意图突出业务主方向。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CPG-3568使用Ubuntu 20.04.6和Linux 5.10.226。摄像头、惯导与转台分别由独立systemd服务管理。以太网转发程序是C程序，惯导和转台网关使用Python。串口使用稳定by-id路径与排他锁。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厂家内核缺少CONFIG_BRIDGE，所以采用AF_PACKET/SOCK_RAW实现双向二层转发。转发完整以太网帧，不解码或重新编码视频。程序通过PACKET_IGNORE_OUTGOING等机制防止自身发送帧再次参与转发，关闭GRO/LRO/GSO/TSO以避免超长聚合帧问题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桌面接法为网口2直接连接上位机。此前实际TP-Link光纤链路已经验证过摄像头网络访问和视频传输，以及当时惯导UDP。网络光纤收发器仅做二层介质转换。网络数据光纤与射频转光纤的信号类型不同，不应混为同一条业务链路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WTGAHRS3-TTL以9600 8N1输出WIT标准协议。当前经CP2102 TTL转USB接入下方USB口。接线为TX到RXD、RX到TXD并共地，供电根据规格使用5V。不能混用RS232或RS485转换器。实际ttyUSB编号可能改变，因此服务使用稳定by-id路径。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WIT子帧为11字节，帧头0x55，末字节累加校验。解析0x51加速度温度、0x52角速度、0x53姿态角，取得有效数据后组样本。项目外层为EB90、2字节大端总长度、type、数据区、checksum。0x82数据区为UTF-8 JSON，包含sequence和UTC时间戳。当前实现收集有效字段，不把它描述为硬件同步采样。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转台使用FTDI USB-RS422转换器，四线全双工，115200 8N1。上位机与板端都使用20003端口，每个UDP报文承载一条完整AA原生帧。上位机到串口前执行校验，串口状态流经重组后按帧回传。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转台帧采用AA帧头、长度、设备ID、命令、参数和累加校验。串口流可能出现分片或错位，需要缓存和重同步。实机状态帧存在长度字段0x10但实际15或16字节的差异，采用候选长度与校验联合判断。步进子命令0x06已经禁用，不能作为可用控制能力展示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卫星跟踪上位机提供转台控制和卫星任务两个主要工作区。此页用功能结构说明上位机，不把示意图当作实际软件截图。机械回零调用已有编码器零点的0/0定点，不寻找限位开关，不重设零点。新上位机定点控制状态超时阈值1.2秒，任务跟踪为2秒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E:/RK3568/卫星跟踪上位机/README.md</a:t>
            </a:r>
          </a:p>
          <a:p>
            <a:r>
              <a:t>E:/RK3568/HANDOFF.md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卫星跟踪程序使用随附的SGP4库。输入TLE、站址和时间，进行轨道外推及ECEF/ENU转换，得到当地坐标的方位与俯仰。搜索过境及阈值交点，细化峰值。这里展示算法链路，不给出未经测量的精度结论。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E:/RK3568/卫星跟踪上位机/README.md</a:t>
            </a:r>
          </a:p>
          <a:p>
            <a:r>
              <a:t>E:/RK3568/卫星跟踪上位机/satellite_tracker/orbit.py</a:t>
            </a:r>
          </a:p>
          <a:p>
            <a:r>
              <a:t>E:/RK3568/卫星跟踪上位机/satellite_tracker/passes.py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机为等待过境、到达AOS且满足俯仰阈值、150ms连续定点、低于阈值或达到LOS、停止并完成。未来任务不会提前运动。跟踪期间反馈超过2秒未更新、收到故障、网络异常或轨道计算异常时，程序发送停止帧并进入异常停止。150ms是软件调度间隔，不能直接等同于机械响应时间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E:/RK3568/卫星跟踪上位机/README.md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稳定设备路径避免USB枚举编号漂移，排他锁避免多个进程同时打开串口。独立服务与端口降低资源冲突。序号可识别样本丢失，校验和识别传输或组帧异常，但UDP本身不提供可靠投递。发送停止帧并不保证失联时设备一定收到，实际安全效果仍要结合机械与驱动层验证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  <a:p>
            <a:r>
              <a:t>E:/RK3568/卫星跟踪上位机/README.md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自项目交接记录，并非本次重新测量。2026年10月20日USB惯导连续50包，耗时4.992秒，0丢包，10.02Hz。历史摄像头和光纤测试不能当作新接线下的三路并发验收。转台状态、应答及停止链路已有验证，步进语义仍存在问题。卫星跟踪代码具备离线测试，但此处不宣称完成实际卫星跟踪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  <a:p>
            <a:r>
              <a:t>E:/RK3568/卫星跟踪上位机/README.md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年10月16日文档所述双轴小角度步进曾导致朝零位大幅运动。网关已拒绝0x06，需厂家确认，不能通过界面保留命令构造能力推断其可用。当前三服务active与三路业务同时验收有区别。还需运行稳定性、断链恢复、安装标定、时间准确性和跟踪误差测试。射频及供电作为整机范围补充验证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  <a:p>
            <a:r>
              <a:t>E:/RK3568/卫星跟踪上位机/README.md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阶段成果是完成多设备接入和三条软件通路，具备上位机控制与卫星任务跟踪实现。接下来首先确认协议与零位，然后完成当前配置并发及持续运行测试，再做实际卫星任务并记录误差，最后完善整机链路验收。请组会重点讨论厂家协议确认、试验安排和指向误差的评估方法。</a:t>
            </a:r>
          </a:p>
          <a:p>
            <a:endParaRPr/>
          </a:p>
          <a:p>
            <a:r>
              <a:t>资料来源：</a:t>
            </a:r>
          </a:p>
          <a:p>
            <a:r>
              <a:t>E:/RK3568/HANDOFF.md</a:t>
            </a:r>
          </a:p>
          <a:p>
            <a:r>
              <a:t>E:/RK3568/SOFTWARE_IMPLEMENTATION.md</a:t>
            </a:r>
          </a:p>
          <a:p>
            <a:r>
              <a:t>E:/RK3568/卫星跟踪上位机/README.md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629B93-65D0-4DEF-BF35-5C0AD3F4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E7FD4AC-91AB-4406-BE26-3D3FD076B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8BB24ED-9E8A-4A4C-9BB4-94E3E3D7D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9736BE8-22C2-4E51-9ADD-5E6300F2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B60CD45-0644-4BD0-9990-24C0429A7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D8BB814-00DC-4C9B-91FE-6D390DF3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E9EC30C-A7D8-4D5E-9C92-BBFD24D8F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930629E-6457-48A2-A0B6-C219CB0D25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E0E1DFC-F6BF-4E3C-8119-F44F5EF9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3AB2E77-2ED6-4A1D-8066-3B0D11685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191EA95-A80A-4039-A354-57CD1407574C}"/>
              </a:ext>
            </a:extLst>
          </p:cNvPr>
          <p:cNvSpPr>
            <a:spLocks noGrp="1"/>
          </p:cNvSpPr>
          <p:nvPr/>
        </p:nvSpPr>
        <p:spPr>
          <a:xfrm>
            <a:off x="723900" y="6381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CDD9"/>
                </a:solidFill>
                <a:latin typeface="Microsoft YaHei"/>
                <a:ea typeface="Microsoft YaHei"/>
                <a:cs typeface="Microsoft YaHei"/>
              </a:rPr>
              <a:t>项目组会汇报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880D15-E4C9-4E98-BCE3-4492553255E9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0744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基于RK3568的室外设备接入</a:t>
            </a:r>
          </a:p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与卫星跟踪控制系统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02A466-1717-4618-8184-25336845C042}"/>
              </a:ext>
            </a:extLst>
          </p:cNvPr>
          <p:cNvSpPr>
            <a:spLocks noGrp="1"/>
          </p:cNvSpPr>
          <p:nvPr/>
        </p:nvSpPr>
        <p:spPr>
          <a:xfrm>
            <a:off x="762000" y="4057650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rPr>
              <a:t>系统架构、模块实现与联调进展</a:t>
            </a:r>
            <a:endParaRPr sz="2250" b="0" dirty="0">
              <a:solidFill>
                <a:srgbClr val="CEE0E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2F151A-854C-4A87-88B0-C34604EC3D77}"/>
              </a:ext>
            </a:extLst>
          </p:cNvPr>
          <p:cNvSpPr>
            <a:spLocks noGrp="1"/>
          </p:cNvSpPr>
          <p:nvPr/>
        </p:nvSpPr>
        <p:spPr>
          <a:xfrm>
            <a:off x="762000" y="5686425"/>
            <a:ext cx="904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2D0715-3521-00AE-FA2D-6FBFC12D7E19}"/>
              </a:ext>
            </a:extLst>
          </p:cNvPr>
          <p:cNvSpPr>
            <a:spLocks noGrp="1"/>
          </p:cNvSpPr>
          <p:nvPr/>
        </p:nvSpPr>
        <p:spPr>
          <a:xfrm>
            <a:off x="723900" y="4652962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CE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汇报人：周彦仰</a:t>
            </a:r>
            <a:endParaRPr sz="2250" b="0" dirty="0">
              <a:solidFill>
                <a:srgbClr val="CEE0E9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9918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BD6341E-633B-4CEF-8969-D7D9059A3E95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747000" y="3048000"/>
            <a:ext cx="5715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F9AEE3C-CE19-4A02-AC21-92805C8BA49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873500" y="3048000"/>
            <a:ext cx="5715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2276764-74BC-4A38-8E97-E76382CC1293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项目目标与系统功能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BE463BC5-1AB7-43CD-9154-393DFB2C660F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3EA97F-F655-4D21-A523-F63588718545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系统整体介绍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53C80F-9BA8-42C6-879C-BDB8671061EF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02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0B840B-62D5-4DBB-AC2B-8C7303EE7D89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以统一接入节点连接室外设备与室内计算平台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C419C0-EA72-410D-A661-DBF81357D5A9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3302000" cy="11430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室外设备</a:t>
            </a:r>
          </a:p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摄像头 / 惯导 / 转台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BE88C9-45DA-4E97-90E6-0C0CAC13BD1F}"/>
              </a:ext>
            </a:extLst>
          </p:cNvPr>
          <p:cNvSpPr>
            <a:spLocks noGrp="1"/>
          </p:cNvSpPr>
          <p:nvPr/>
        </p:nvSpPr>
        <p:spPr>
          <a:xfrm>
            <a:off x="4445000" y="2476500"/>
            <a:ext cx="3302000" cy="11430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RK3568</a:t>
            </a:r>
          </a:p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数据接入与协议处理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38D5C0-503E-4FA8-9994-95F8F6F21B23}"/>
              </a:ext>
            </a:extLst>
          </p:cNvPr>
          <p:cNvSpPr>
            <a:spLocks noGrp="1"/>
          </p:cNvSpPr>
          <p:nvPr/>
        </p:nvSpPr>
        <p:spPr>
          <a:xfrm>
            <a:off x="8318500" y="2476500"/>
            <a:ext cx="3302000" cy="11430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室内上位机</a:t>
            </a:r>
          </a:p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监视 / 控制 / 任务计算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ED10A8-503A-4F10-8F57-D809693F4C80}"/>
              </a:ext>
            </a:extLst>
          </p:cNvPr>
          <p:cNvSpPr>
            <a:spLocks noGrp="1"/>
          </p:cNvSpPr>
          <p:nvPr/>
        </p:nvSpPr>
        <p:spPr>
          <a:xfrm>
            <a:off x="571500" y="4276725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基础通路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E1EE5E-5CD0-484C-9C92-45D80339139C}"/>
              </a:ext>
            </a:extLst>
          </p:cNvPr>
          <p:cNvSpPr>
            <a:spLocks noGrp="1"/>
          </p:cNvSpPr>
          <p:nvPr/>
        </p:nvSpPr>
        <p:spPr>
          <a:xfrm>
            <a:off x="571500" y="4724400"/>
            <a:ext cx="4857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视频访问、姿态数据采集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转台指令下发与状态回传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F98C99-9E29-4CB8-9840-9B3639154311}"/>
              </a:ext>
            </a:extLst>
          </p:cNvPr>
          <p:cNvSpPr>
            <a:spLocks noGrp="1"/>
          </p:cNvSpPr>
          <p:nvPr/>
        </p:nvSpPr>
        <p:spPr>
          <a:xfrm>
            <a:off x="6524625" y="4276725"/>
            <a:ext cx="5000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上层应用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3A28F6-CC1F-45A8-BF9F-1C6F77BC9E8B}"/>
              </a:ext>
            </a:extLst>
          </p:cNvPr>
          <p:cNvSpPr>
            <a:spLocks noGrp="1"/>
          </p:cNvSpPr>
          <p:nvPr/>
        </p:nvSpPr>
        <p:spPr>
          <a:xfrm>
            <a:off x="6524625" y="4724400"/>
            <a:ext cx="5000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根据TLE与观测站位置计算指向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按过境窗口执行卫星跟踪任务</a:t>
            </a:r>
          </a:p>
        </p:txBody>
      </p:sp>
    </p:spTree>
    <p:extLst>
      <p:ext uri="{BB962C8B-B14F-4D97-AF65-F5344CB8AC3E}">
        <p14:creationId xmlns:p14="http://schemas.microsoft.com/office/powerpoint/2010/main" val="100141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B2DEA1E-F329-4913-8296-05DAC003F245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总体方案与室外设备组成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A212C00B-45D4-425F-BE5A-E6F48D50B807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14D02B-CAE6-4C5A-987C-9EA667CA0067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系统整体介绍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EBF14B-992D-4999-A402-8399BB569B14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03 / 20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E8AB9F-911E-4FB5-9941-C20396611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5639" y="1428750"/>
            <a:ext cx="8044223" cy="4572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23F86F6-43CC-4A86-98B2-6A65E1CF68C0}"/>
              </a:ext>
            </a:extLst>
          </p:cNvPr>
          <p:cNvSpPr>
            <a:spLocks noGrp="1"/>
          </p:cNvSpPr>
          <p:nvPr/>
        </p:nvSpPr>
        <p:spPr>
          <a:xfrm>
            <a:off x="9477375" y="1666875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供电系统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E16EB3-3C74-45F9-B32A-267AC62A2FB8}"/>
              </a:ext>
            </a:extLst>
          </p:cNvPr>
          <p:cNvSpPr>
            <a:spLocks noGrp="1"/>
          </p:cNvSpPr>
          <p:nvPr/>
        </p:nvSpPr>
        <p:spPr>
          <a:xfrm>
            <a:off x="9477375" y="2114550"/>
            <a:ext cx="2143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外部24V输入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分配与电压转换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1EA6F-3779-43BA-AACC-DCF1134E1627}"/>
              </a:ext>
            </a:extLst>
          </p:cNvPr>
          <p:cNvSpPr>
            <a:spLocks noGrp="1"/>
          </p:cNvSpPr>
          <p:nvPr/>
        </p:nvSpPr>
        <p:spPr>
          <a:xfrm>
            <a:off x="9477375" y="3152775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数据与控制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BDB375-7CB9-4634-B3BB-7BA9417ED87B}"/>
              </a:ext>
            </a:extLst>
          </p:cNvPr>
          <p:cNvSpPr>
            <a:spLocks noGrp="1"/>
          </p:cNvSpPr>
          <p:nvPr/>
        </p:nvSpPr>
        <p:spPr>
          <a:xfrm>
            <a:off x="9477375" y="3600450"/>
            <a:ext cx="2143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网络与串口接入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网络转光纤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AA6884-D3CA-43C7-A96A-70783E96677F}"/>
              </a:ext>
            </a:extLst>
          </p:cNvPr>
          <p:cNvSpPr>
            <a:spLocks noGrp="1"/>
          </p:cNvSpPr>
          <p:nvPr/>
        </p:nvSpPr>
        <p:spPr>
          <a:xfrm>
            <a:off x="9477375" y="4638675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射频系统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471D4A-7E8F-440C-9AA8-778A0F1D4F82}"/>
              </a:ext>
            </a:extLst>
          </p:cNvPr>
          <p:cNvSpPr>
            <a:spLocks noGrp="1"/>
          </p:cNvSpPr>
          <p:nvPr/>
        </p:nvSpPr>
        <p:spPr>
          <a:xfrm>
            <a:off x="9477375" y="5086350"/>
            <a:ext cx="2143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VDES馈源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射频转光纤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A8AE49-CDFF-4BB2-9907-80DCFC2D0E72}"/>
              </a:ext>
            </a:extLst>
          </p:cNvPr>
          <p:cNvSpPr>
            <a:spLocks noGrp="1"/>
          </p:cNvSpPr>
          <p:nvPr/>
        </p:nvSpPr>
        <p:spPr>
          <a:xfrm>
            <a:off x="571500" y="6105525"/>
            <a:ext cx="857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总体方案原图，接口与端口以当前实现为准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0980AA-409B-F0E6-0182-3E6CC953B187}"/>
              </a:ext>
            </a:extLst>
          </p:cNvPr>
          <p:cNvSpPr/>
          <p:nvPr/>
        </p:nvSpPr>
        <p:spPr>
          <a:xfrm>
            <a:off x="835639" y="1530625"/>
            <a:ext cx="5141091" cy="3849755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19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E4D5112-701A-4E48-8641-AF4EE062483C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实验平台与当前硬件连接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1569D620-A0D8-4FD0-AD80-999072170701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8B3D03-3AAB-4A33-AAA8-5EDF0AC34FE6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系统整体介绍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490AF1-E800-44AE-8CA3-B299FB1FF184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04 / 20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D527A0-34D5-4E60-A3DD-E38A752B2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372088"/>
            <a:ext cx="6667500" cy="499964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50072EB-061F-4731-A6A0-361471FA33D8}"/>
              </a:ext>
            </a:extLst>
          </p:cNvPr>
          <p:cNvSpPr>
            <a:spLocks noGrp="1"/>
          </p:cNvSpPr>
          <p:nvPr/>
        </p:nvSpPr>
        <p:spPr>
          <a:xfrm>
            <a:off x="1504950" y="2476500"/>
            <a:ext cx="419100" cy="381000"/>
          </a:xfrm>
          <a:prstGeom prst="rect">
            <a:avLst/>
          </a:prstGeom>
          <a:solidFill>
            <a:srgbClr val="17364F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CDB796-3E35-4019-A201-7A2D32A09F3E}"/>
              </a:ext>
            </a:extLst>
          </p:cNvPr>
          <p:cNvSpPr>
            <a:spLocks noGrp="1"/>
          </p:cNvSpPr>
          <p:nvPr/>
        </p:nvSpPr>
        <p:spPr>
          <a:xfrm>
            <a:off x="5772150" y="3162300"/>
            <a:ext cx="419100" cy="381000"/>
          </a:xfrm>
          <a:prstGeom prst="rect">
            <a:avLst/>
          </a:prstGeom>
          <a:solidFill>
            <a:srgbClr val="17364F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44EC72-2709-4D74-B198-CB9FCB17AF42}"/>
              </a:ext>
            </a:extLst>
          </p:cNvPr>
          <p:cNvSpPr>
            <a:spLocks noGrp="1"/>
          </p:cNvSpPr>
          <p:nvPr/>
        </p:nvSpPr>
        <p:spPr>
          <a:xfrm>
            <a:off x="3343275" y="5467350"/>
            <a:ext cx="419100" cy="381000"/>
          </a:xfrm>
          <a:prstGeom prst="rect">
            <a:avLst/>
          </a:prstGeom>
          <a:solidFill>
            <a:srgbClr val="17364F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BE0A5A-F657-4258-8D33-58E49F61064D}"/>
              </a:ext>
            </a:extLst>
          </p:cNvPr>
          <p:cNvSpPr>
            <a:spLocks noGrp="1"/>
          </p:cNvSpPr>
          <p:nvPr/>
        </p:nvSpPr>
        <p:spPr>
          <a:xfrm>
            <a:off x="5010150" y="5734050"/>
            <a:ext cx="419100" cy="381000"/>
          </a:xfrm>
          <a:prstGeom prst="rect">
            <a:avLst/>
          </a:prstGeom>
          <a:solidFill>
            <a:srgbClr val="17364F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9B4A17-CD84-44E2-B5B8-6A7334101A46}"/>
              </a:ext>
            </a:extLst>
          </p:cNvPr>
          <p:cNvSpPr>
            <a:spLocks noGrp="1"/>
          </p:cNvSpPr>
          <p:nvPr/>
        </p:nvSpPr>
        <p:spPr>
          <a:xfrm>
            <a:off x="7810500" y="158115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① 伺服转台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A1B840-014E-45E4-AE97-B9B9D852AE70}"/>
              </a:ext>
            </a:extLst>
          </p:cNvPr>
          <p:cNvSpPr>
            <a:spLocks noGrp="1"/>
          </p:cNvSpPr>
          <p:nvPr/>
        </p:nvSpPr>
        <p:spPr>
          <a:xfrm>
            <a:off x="7810500" y="2009775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上方USB，经USB-RS422接入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EA93D3-D600-4441-A8B2-03E18408DE32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② 网络摄像头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4C3E54-706D-4923-A2C3-934A21609DA2}"/>
              </a:ext>
            </a:extLst>
          </p:cNvPr>
          <p:cNvSpPr>
            <a:spLocks noGrp="1"/>
          </p:cNvSpPr>
          <p:nvPr/>
        </p:nvSpPr>
        <p:spPr>
          <a:xfrm>
            <a:off x="7810500" y="3114675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网口1接入，视频经网口2传输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1AB5AA-50ED-42DC-A0ED-7FCFA5521C35}"/>
              </a:ext>
            </a:extLst>
          </p:cNvPr>
          <p:cNvSpPr>
            <a:spLocks noGrp="1"/>
          </p:cNvSpPr>
          <p:nvPr/>
        </p:nvSpPr>
        <p:spPr>
          <a:xfrm>
            <a:off x="7810500" y="379095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③ RK3568核心板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EC11C1-0883-44BA-859A-E69ED68191CC}"/>
              </a:ext>
            </a:extLst>
          </p:cNvPr>
          <p:cNvSpPr>
            <a:spLocks noGrp="1"/>
          </p:cNvSpPr>
          <p:nvPr/>
        </p:nvSpPr>
        <p:spPr>
          <a:xfrm>
            <a:off x="7810500" y="4219575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双网口及两路独立USB串口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5EF561-4DB2-4E5A-822A-94C50139DEC1}"/>
              </a:ext>
            </a:extLst>
          </p:cNvPr>
          <p:cNvSpPr>
            <a:spLocks noGrp="1"/>
          </p:cNvSpPr>
          <p:nvPr/>
        </p:nvSpPr>
        <p:spPr>
          <a:xfrm>
            <a:off x="7810500" y="489585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④ WTGAHRS3-TTL惯导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7903A6-AE25-4D31-B406-5D1F0B1AEF01}"/>
              </a:ext>
            </a:extLst>
          </p:cNvPr>
          <p:cNvSpPr>
            <a:spLocks noGrp="1"/>
          </p:cNvSpPr>
          <p:nvPr/>
        </p:nvSpPr>
        <p:spPr>
          <a:xfrm>
            <a:off x="7810500" y="5324475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下方USB，经TTL转USB接入</a:t>
            </a:r>
          </a:p>
        </p:txBody>
      </p:sp>
    </p:spTree>
    <p:extLst>
      <p:ext uri="{BB962C8B-B14F-4D97-AF65-F5344CB8AC3E}">
        <p14:creationId xmlns:p14="http://schemas.microsoft.com/office/powerpoint/2010/main" val="101648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290A7DE-B598-42BE-B6F7-884B4D11F5C9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7620000" y="5019675"/>
            <a:ext cx="1143000" cy="0"/>
          </a:xfrm>
          <a:prstGeom prst="straightConnector1">
            <a:avLst/>
          </a:prstGeom>
          <a:ln w="19050">
            <a:solidFill>
              <a:srgbClr val="B16D22"/>
            </a:solidFill>
            <a:headEnd type="arrow" w="med" len="med"/>
            <a:tailEnd type="arrow" w="med" len="med"/>
          </a:ln>
        </p:spPr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65D04C4-A770-4690-8340-8E2768750873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2857500" y="5019675"/>
            <a:ext cx="1143000" cy="0"/>
          </a:xfrm>
          <a:prstGeom prst="straightConnector1">
            <a:avLst/>
          </a:prstGeom>
          <a:ln w="19050">
            <a:solidFill>
              <a:srgbClr val="B16D22"/>
            </a:solidFill>
            <a:headEnd type="arrow" w="med" len="med"/>
            <a:tailEnd type="arrow" w="med" len="med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970B10D-567D-4568-9F7A-7A3B78CAB112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7620000" y="3762375"/>
            <a:ext cx="114300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DEE78C4-B5E0-4150-8785-BF129EDC50E0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857500" y="3762375"/>
            <a:ext cx="114300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3ABB015-EFC4-4E3C-8EAE-7D2EC783A39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7620000" y="2505075"/>
            <a:ext cx="11430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37169BF-E0FB-4E24-90B9-62AD70FB81A5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857500" y="2505075"/>
            <a:ext cx="11430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CEABDFA-16E3-4748-A761-9E8D1CEC2BBF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系统数据流与软硬件分工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340B9F88-E21F-4632-B9CB-CC8C34B44167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BD1CBD-2C45-4753-BDC3-7DD611AEA89C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系统整体介绍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9BB1A0-318F-49A3-8669-12604D0AE297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05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A194EF-B66D-4767-8830-767ED04AC728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室外设备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6E9E9B-B8A5-4D80-87AE-DD4AFCB47396}"/>
              </a:ext>
            </a:extLst>
          </p:cNvPr>
          <p:cNvSpPr>
            <a:spLocks noGrp="1"/>
          </p:cNvSpPr>
          <p:nvPr/>
        </p:nvSpPr>
        <p:spPr>
          <a:xfrm>
            <a:off x="4448175" y="1476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RK3568板端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9CB9BF-6305-4D53-A72C-BD46ACBDF238}"/>
              </a:ext>
            </a:extLst>
          </p:cNvPr>
          <p:cNvSpPr>
            <a:spLocks noGrp="1"/>
          </p:cNvSpPr>
          <p:nvPr/>
        </p:nvSpPr>
        <p:spPr>
          <a:xfrm>
            <a:off x="8915400" y="1476375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室内上位机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555B8E-BED6-4E6E-B365-A3DE731E3645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22860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59CBE-E5DD-4E0C-88B2-DEFE94D2C302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36195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以太网帧透明转发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2E47DA-05E8-4929-9E5A-6881A4ED343F}"/>
              </a:ext>
            </a:extLst>
          </p:cNvPr>
          <p:cNvSpPr>
            <a:spLocks noGrp="1"/>
          </p:cNvSpPr>
          <p:nvPr/>
        </p:nvSpPr>
        <p:spPr>
          <a:xfrm>
            <a:off x="8763000" y="2143125"/>
            <a:ext cx="28575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网页 / 视频客户端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B188FE-020E-4178-A6EA-954433E668D4}"/>
              </a:ext>
            </a:extLst>
          </p:cNvPr>
          <p:cNvSpPr>
            <a:spLocks noGrp="1"/>
          </p:cNvSpPr>
          <p:nvPr/>
        </p:nvSpPr>
        <p:spPr>
          <a:xfrm>
            <a:off x="7858125" y="2933700"/>
            <a:ext cx="3619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原始以太网协议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C28ECE-F25E-4037-8B9A-E0F34C01F10E}"/>
              </a:ext>
            </a:extLst>
          </p:cNvPr>
          <p:cNvSpPr>
            <a:spLocks noGrp="1"/>
          </p:cNvSpPr>
          <p:nvPr/>
        </p:nvSpPr>
        <p:spPr>
          <a:xfrm>
            <a:off x="571500" y="3400425"/>
            <a:ext cx="22860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惯导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DA1419-0ECD-4AFB-8D40-54B211E2D3B6}"/>
              </a:ext>
            </a:extLst>
          </p:cNvPr>
          <p:cNvSpPr>
            <a:spLocks noGrp="1"/>
          </p:cNvSpPr>
          <p:nvPr/>
        </p:nvSpPr>
        <p:spPr>
          <a:xfrm>
            <a:off x="4000500" y="3400425"/>
            <a:ext cx="36195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WIT解析与EB90封装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7C5E37-CB08-4468-AEFD-4CDBC3C14975}"/>
              </a:ext>
            </a:extLst>
          </p:cNvPr>
          <p:cNvSpPr>
            <a:spLocks noGrp="1"/>
          </p:cNvSpPr>
          <p:nvPr/>
        </p:nvSpPr>
        <p:spPr>
          <a:xfrm>
            <a:off x="8763000" y="3400425"/>
            <a:ext cx="28575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姿态接收与检查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93283E-EEC3-4245-B840-EF006BDE3D31}"/>
              </a:ext>
            </a:extLst>
          </p:cNvPr>
          <p:cNvSpPr>
            <a:spLocks noGrp="1"/>
          </p:cNvSpPr>
          <p:nvPr/>
        </p:nvSpPr>
        <p:spPr>
          <a:xfrm>
            <a:off x="7858125" y="4191000"/>
            <a:ext cx="3619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UDP 20002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6D395F-13A8-4920-A231-44A85F646020}"/>
              </a:ext>
            </a:extLst>
          </p:cNvPr>
          <p:cNvSpPr>
            <a:spLocks noGrp="1"/>
          </p:cNvSpPr>
          <p:nvPr/>
        </p:nvSpPr>
        <p:spPr>
          <a:xfrm>
            <a:off x="571500" y="4657725"/>
            <a:ext cx="22860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B16D2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转台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BC1C2D-C3E7-4E2C-918D-9BA17B6153B6}"/>
              </a:ext>
            </a:extLst>
          </p:cNvPr>
          <p:cNvSpPr>
            <a:spLocks noGrp="1"/>
          </p:cNvSpPr>
          <p:nvPr/>
        </p:nvSpPr>
        <p:spPr>
          <a:xfrm>
            <a:off x="4000500" y="4657725"/>
            <a:ext cx="36195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B16D2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AA协议双向网关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823D32-0090-4620-B9EE-7DFCEE1F0D64}"/>
              </a:ext>
            </a:extLst>
          </p:cNvPr>
          <p:cNvSpPr>
            <a:spLocks noGrp="1"/>
          </p:cNvSpPr>
          <p:nvPr/>
        </p:nvSpPr>
        <p:spPr>
          <a:xfrm>
            <a:off x="8763000" y="4657725"/>
            <a:ext cx="2857500" cy="723900"/>
          </a:xfrm>
          <a:prstGeom prst="rect">
            <a:avLst/>
          </a:prstGeom>
          <a:solidFill>
            <a:srgbClr val="F0F5F8"/>
          </a:solidFill>
          <a:ln w="15240">
            <a:solidFill>
              <a:srgbClr val="B16D2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转台控制 / 卫星跟踪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89BF17-A0FE-4BE4-883B-62CB8AB19510}"/>
              </a:ext>
            </a:extLst>
          </p:cNvPr>
          <p:cNvSpPr>
            <a:spLocks noGrp="1"/>
          </p:cNvSpPr>
          <p:nvPr/>
        </p:nvSpPr>
        <p:spPr>
          <a:xfrm>
            <a:off x="7858125" y="5448300"/>
            <a:ext cx="3619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UDP 20003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9E7857B-1A15-4541-80AC-AEB4CC0B69E8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独立服务、串口与端口隔离，板端负责接入，上位机负责应用与任务计算</a:t>
            </a:r>
          </a:p>
        </p:txBody>
      </p:sp>
    </p:spTree>
    <p:extLst>
      <p:ext uri="{BB962C8B-B14F-4D97-AF65-F5344CB8AC3E}">
        <p14:creationId xmlns:p14="http://schemas.microsoft.com/office/powerpoint/2010/main" val="20394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24140D4-CA06-483A-AD48-D57C9729F36E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RK3568平台与软件部署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DDAAF3D7-3FFB-4F06-888E-ACCCF2356560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484509-35AA-4F59-BBBE-34DE45A5292F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4C1E01-4B5B-41B3-ACA4-4E8148981B36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06 / 20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B7E7CCC-8F5F-4D28-958E-169B5CBCA0D9}"/>
              </a:ext>
            </a:extLst>
          </p:cNvPr>
          <p:cNvGraphicFramePr/>
          <p:nvPr/>
        </p:nvGraphicFramePr>
        <p:xfrm>
          <a:off x="571500" y="1676400"/>
          <a:ext cx="11049000" cy="3457575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151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部署层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 / 服务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板端网络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ether-relay.service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双网口二层透明转发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板端采集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wtgahrs3-reader.service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惯导解析与UDP传输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板端控制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turntable-gateway.service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转台RS422与UDP网关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Windows上位机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控制界面与卫星跟踪程序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状态监视、轨道计算和任务执行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0AB5EA2-135D-4BB8-BC75-93E8175BF314}"/>
              </a:ext>
            </a:extLst>
          </p:cNvPr>
          <p:cNvSpPr>
            <a:spLocks noGrp="1"/>
          </p:cNvSpPr>
          <p:nvPr/>
        </p:nvSpPr>
        <p:spPr>
          <a:xfrm>
            <a:off x="571500" y="54387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运行基础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6B1C53-3767-42B0-8599-03F781DB3D5B}"/>
              </a:ext>
            </a:extLst>
          </p:cNvPr>
          <p:cNvSpPr>
            <a:spLocks noGrp="1"/>
          </p:cNvSpPr>
          <p:nvPr/>
        </p:nvSpPr>
        <p:spPr>
          <a:xfrm>
            <a:off x="2333625" y="5429250"/>
            <a:ext cx="914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Ubuntu 20.04.6 / Linux 5.10.226     开机自启、故障重启与日志管理</a:t>
            </a:r>
          </a:p>
        </p:txBody>
      </p:sp>
    </p:spTree>
    <p:extLst>
      <p:ext uri="{BB962C8B-B14F-4D97-AF65-F5344CB8AC3E}">
        <p14:creationId xmlns:p14="http://schemas.microsoft.com/office/powerpoint/2010/main" val="59604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2F566D9-1D33-41A4-A8DD-6A7305D61C8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715250" y="2476500"/>
            <a:ext cx="66675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10F671E-D297-442E-B98E-D71F3645404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810000" y="2476500"/>
            <a:ext cx="66675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B30941D-A3A9-41D9-8653-ADE448583D59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摄像头模块：双网口透明转发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11B31DA4-326B-4C88-8353-86328BF8308F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20BD23-8E78-4289-9C9E-9CBF9CBCB3D6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0CB2F1-7AC5-4093-B629-BECC56D1767B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07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672F0A-FD2B-4FF4-99F5-D5940FD1A0E0}"/>
              </a:ext>
            </a:extLst>
          </p:cNvPr>
          <p:cNvSpPr>
            <a:spLocks noGrp="1"/>
          </p:cNvSpPr>
          <p:nvPr/>
        </p:nvSpPr>
        <p:spPr>
          <a:xfrm>
            <a:off x="571500" y="1914525"/>
            <a:ext cx="3238500" cy="112395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网络摄像头</a:t>
            </a:r>
          </a:p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192.168.1.100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C1CDF1-9E9A-43B6-AF49-AC77F33F669E}"/>
              </a:ext>
            </a:extLst>
          </p:cNvPr>
          <p:cNvSpPr>
            <a:spLocks noGrp="1"/>
          </p:cNvSpPr>
          <p:nvPr/>
        </p:nvSpPr>
        <p:spPr>
          <a:xfrm>
            <a:off x="4476750" y="1914525"/>
            <a:ext cx="3238500" cy="112395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eth0 / eth1</a:t>
            </a:r>
          </a:p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AF_PACKET转发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5F7B42-99F4-4666-822B-9410F252E2B8}"/>
              </a:ext>
            </a:extLst>
          </p:cNvPr>
          <p:cNvSpPr>
            <a:spLocks noGrp="1"/>
          </p:cNvSpPr>
          <p:nvPr/>
        </p:nvSpPr>
        <p:spPr>
          <a:xfrm>
            <a:off x="8382000" y="1914525"/>
            <a:ext cx="3238500" cy="112395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视频客户端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8DF69A-F23E-417B-8600-0212B17C3657}"/>
              </a:ext>
            </a:extLst>
          </p:cNvPr>
          <p:cNvSpPr>
            <a:spLocks noGrp="1"/>
          </p:cNvSpPr>
          <p:nvPr/>
        </p:nvSpPr>
        <p:spPr>
          <a:xfrm>
            <a:off x="571500" y="3667125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实现方式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951A0A-8F42-45EE-875E-D5E37B958A8E}"/>
              </a:ext>
            </a:extLst>
          </p:cNvPr>
          <p:cNvSpPr>
            <a:spLocks noGrp="1"/>
          </p:cNvSpPr>
          <p:nvPr/>
        </p:nvSpPr>
        <p:spPr>
          <a:xfrm>
            <a:off x="571500" y="4114800"/>
            <a:ext cx="5191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原始套接字接收完整以太网帧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在另一网口发送，保留协议内容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EEC3B4-86BD-4031-8D99-78E4E4EEF8D0}"/>
              </a:ext>
            </a:extLst>
          </p:cNvPr>
          <p:cNvSpPr>
            <a:spLocks noGrp="1"/>
          </p:cNvSpPr>
          <p:nvPr/>
        </p:nvSpPr>
        <p:spPr>
          <a:xfrm>
            <a:off x="6486525" y="3667125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关键处理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17A935-AE98-44D8-B07A-52F2781D0EB5}"/>
              </a:ext>
            </a:extLst>
          </p:cNvPr>
          <p:cNvSpPr>
            <a:spLocks noGrp="1"/>
          </p:cNvSpPr>
          <p:nvPr/>
        </p:nvSpPr>
        <p:spPr>
          <a:xfrm>
            <a:off x="6486525" y="4114800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忽略自身发送报文，避免重复转发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关闭网卡卸载，处理聚合帧问题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15E40A-5E01-4383-A941-D1D7C9B6A335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板端不承担视频解码与重编码，主码流参数为H.265、2560×1440、25 fps</a:t>
            </a:r>
          </a:p>
        </p:txBody>
      </p:sp>
    </p:spTree>
    <p:extLst>
      <p:ext uri="{BB962C8B-B14F-4D97-AF65-F5344CB8AC3E}">
        <p14:creationId xmlns:p14="http://schemas.microsoft.com/office/powerpoint/2010/main" val="141135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A0CC1CD-6ABF-47B5-97CE-419769D65336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9345930" y="4433888"/>
            <a:ext cx="32385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F593952-4BC6-4CA6-9136-54005580B94D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7071360" y="4433888"/>
            <a:ext cx="32385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1639AE8-E832-4C21-9472-48758DBD584E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796790" y="4433888"/>
            <a:ext cx="32385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25B6F33-435C-4384-9313-FF7207B88A8E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2522220" y="4433888"/>
            <a:ext cx="32385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A2452B7-A198-47C0-9ECD-9B883BBB0AA5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747000" y="2547938"/>
            <a:ext cx="5715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69432FD-B5BF-4CB8-9E08-60DD9E2D4A4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873500" y="2547938"/>
            <a:ext cx="5715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A81E8C6-DA41-426B-AD90-92EDA503F11B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网络传输：直连与光纤扩展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B3A8D9DD-09EB-4E43-A1E6-6175008838A6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8BFE1E-8D34-4599-8D04-116CAD826DC4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237AB6-383B-4CAD-B0EB-37A7A4EA3434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08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B39FD7-93A6-49B2-A156-38384FB1C3DF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当前桌面联调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22EBF7-1C38-4A0D-B378-826F29DD9A63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3302000" cy="80962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RK3568网口2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7BB953-FBE7-4721-8CF9-F706B51546E5}"/>
              </a:ext>
            </a:extLst>
          </p:cNvPr>
          <p:cNvSpPr>
            <a:spLocks noGrp="1"/>
          </p:cNvSpPr>
          <p:nvPr/>
        </p:nvSpPr>
        <p:spPr>
          <a:xfrm>
            <a:off x="4445000" y="2143125"/>
            <a:ext cx="3302000" cy="80962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网线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AA620A-ABF4-4BCF-AF82-5C77DA83AE6F}"/>
              </a:ext>
            </a:extLst>
          </p:cNvPr>
          <p:cNvSpPr>
            <a:spLocks noGrp="1"/>
          </p:cNvSpPr>
          <p:nvPr/>
        </p:nvSpPr>
        <p:spPr>
          <a:xfrm>
            <a:off x="8318500" y="2143125"/>
            <a:ext cx="3302000" cy="80962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C465E4-B443-47E1-8864-F874D8A8B02A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现场光纤扩展方案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8FA5BA-6E51-45AB-96F4-FBFBF2C992EA}"/>
              </a:ext>
            </a:extLst>
          </p:cNvPr>
          <p:cNvSpPr>
            <a:spLocks noGrp="1"/>
          </p:cNvSpPr>
          <p:nvPr/>
        </p:nvSpPr>
        <p:spPr>
          <a:xfrm>
            <a:off x="571500" y="4029075"/>
            <a:ext cx="1950720" cy="809625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RK3568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2CDF71-8987-4D71-8729-2EE5EBDAFBC6}"/>
              </a:ext>
            </a:extLst>
          </p:cNvPr>
          <p:cNvSpPr>
            <a:spLocks noGrp="1"/>
          </p:cNvSpPr>
          <p:nvPr/>
        </p:nvSpPr>
        <p:spPr>
          <a:xfrm>
            <a:off x="2846070" y="4029075"/>
            <a:ext cx="1950720" cy="809625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网口转光纤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0223B2-EC4F-497E-8CB4-51A903824885}"/>
              </a:ext>
            </a:extLst>
          </p:cNvPr>
          <p:cNvSpPr>
            <a:spLocks noGrp="1"/>
          </p:cNvSpPr>
          <p:nvPr/>
        </p:nvSpPr>
        <p:spPr>
          <a:xfrm>
            <a:off x="5120640" y="4029075"/>
            <a:ext cx="1950720" cy="809625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光纤链路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B41949-68FC-40A1-A2BB-95B065FE7020}"/>
              </a:ext>
            </a:extLst>
          </p:cNvPr>
          <p:cNvSpPr>
            <a:spLocks noGrp="1"/>
          </p:cNvSpPr>
          <p:nvPr/>
        </p:nvSpPr>
        <p:spPr>
          <a:xfrm>
            <a:off x="7395210" y="4029075"/>
            <a:ext cx="1950720" cy="809625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光纤转网口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8E4D70-2132-48E3-82E7-FB700D4E7FA7}"/>
              </a:ext>
            </a:extLst>
          </p:cNvPr>
          <p:cNvSpPr>
            <a:spLocks noGrp="1"/>
          </p:cNvSpPr>
          <p:nvPr/>
        </p:nvSpPr>
        <p:spPr>
          <a:xfrm>
            <a:off x="9669780" y="4029075"/>
            <a:ext cx="1950720" cy="809625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2A074B7-0A90-4074-B75C-DC8CF67C56D7}"/>
              </a:ext>
            </a:extLst>
          </p:cNvPr>
          <p:cNvSpPr>
            <a:spLocks noGrp="1"/>
          </p:cNvSpPr>
          <p:nvPr/>
        </p:nvSpPr>
        <p:spPr>
          <a:xfrm>
            <a:off x="571500" y="538162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协议保持一致，介质转换设备不解析惯导或转台的应用协议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CE6E52-7A8E-448B-9FCA-BB2078AB3BCC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历史光纤验证保留为阶段依据，当前接线变更后需补充整机复测</a:t>
            </a:r>
          </a:p>
        </p:txBody>
      </p:sp>
    </p:spTree>
    <p:extLst>
      <p:ext uri="{BB962C8B-B14F-4D97-AF65-F5344CB8AC3E}">
        <p14:creationId xmlns:p14="http://schemas.microsoft.com/office/powerpoint/2010/main" val="129155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6D80A40-4AF1-466E-A0F1-6382DCDB698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734300" y="2214563"/>
            <a:ext cx="60960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72EFB13-0E16-4AD7-BF05-5B4B7493E03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848100" y="2214563"/>
            <a:ext cx="60960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10095EBD-D2ED-4232-BE8E-4F2647ACA842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惯导模块：硬件接入与串口采集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A540A07D-7D64-4371-AD13-6254F97B8FD6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835E0D-B2E2-40A2-B05C-3EF6D06E86AF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BB3D41-1F21-438F-92AB-B51370BFCE44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09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135DA4-3F2F-42D0-8B25-D2807E3D05B2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3276600" cy="1000125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WTGAHRS3-TTL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1E2B47-EE2A-48BC-ABF1-8ED9C7B47B44}"/>
              </a:ext>
            </a:extLst>
          </p:cNvPr>
          <p:cNvSpPr>
            <a:spLocks noGrp="1"/>
          </p:cNvSpPr>
          <p:nvPr/>
        </p:nvSpPr>
        <p:spPr>
          <a:xfrm>
            <a:off x="4457700" y="1714500"/>
            <a:ext cx="3276600" cy="1000125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CP2102</a:t>
            </a:r>
          </a:p>
          <a:p>
            <a: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TTL转USB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45895A-3E57-4BD1-8F1A-74CD2602DB6F}"/>
              </a:ext>
            </a:extLst>
          </p:cNvPr>
          <p:cNvSpPr>
            <a:spLocks noGrp="1"/>
          </p:cNvSpPr>
          <p:nvPr/>
        </p:nvSpPr>
        <p:spPr>
          <a:xfrm>
            <a:off x="8343900" y="1714500"/>
            <a:ext cx="3276600" cy="1000125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RK3568</a:t>
            </a:r>
          </a:p>
          <a:p>
            <a:pPr algn="ctr">
              <a:def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下方USB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39F3A24-9E83-4549-9BD0-813F53167D54}"/>
              </a:ext>
            </a:extLst>
          </p:cNvPr>
          <p:cNvGraphicFramePr/>
          <p:nvPr/>
        </p:nvGraphicFramePr>
        <p:xfrm>
          <a:off x="571500" y="3276600"/>
          <a:ext cx="11049000" cy="223837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5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惯导端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转换器端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 / RX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RXD / TXD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交叉连接收发信号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GND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VCC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5V / VCC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依据设备规格供电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72035A7-CDA4-4B93-A35B-6CA41FEA66FB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串口参数：9600、8N1     设备选择：稳定by-id路径，避免ttyUSB编号变化</a:t>
            </a:r>
          </a:p>
        </p:txBody>
      </p:sp>
    </p:spTree>
    <p:extLst>
      <p:ext uri="{BB962C8B-B14F-4D97-AF65-F5344CB8AC3E}">
        <p14:creationId xmlns:p14="http://schemas.microsoft.com/office/powerpoint/2010/main" val="24714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5D63C5-464C-44B6-A93D-3B05D5F9BCC4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353550" y="2171700"/>
            <a:ext cx="28575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F94AAAB-9B72-4D19-B4F7-9ADCC18CA15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086600" y="2171700"/>
            <a:ext cx="28575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D79BC66-6A0B-4353-9B43-96BEB3A3099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819650" y="2171700"/>
            <a:ext cx="28575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10B3EE9-05D0-4147-AABD-65B531A3710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52700" y="2171700"/>
            <a:ext cx="285750" cy="0"/>
          </a:xfrm>
          <a:prstGeom prst="straightConnector1">
            <a:avLst/>
          </a:prstGeom>
          <a:ln w="19050">
            <a:solidFill>
              <a:srgbClr val="24867C"/>
            </a:solidFill>
            <a:tailEnd type="arrow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42E5668-969D-49B4-AE19-B587E26BF428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惯导模块：协议解析与UDP封装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E47C6B1E-FEE5-403A-8B76-FF3CDF76D729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2569CE-A184-49D4-A2B3-CEA53BDD5ED6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D9482D-6DDB-4B96-ADF4-85DB18D94D0C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10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1F219F-462F-46B0-8C79-AE5014B4FE75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1981200" cy="857250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串口字节流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170C26-AFF2-47EC-B1D3-7C77AAC5BBA6}"/>
              </a:ext>
            </a:extLst>
          </p:cNvPr>
          <p:cNvSpPr>
            <a:spLocks noGrp="1"/>
          </p:cNvSpPr>
          <p:nvPr/>
        </p:nvSpPr>
        <p:spPr>
          <a:xfrm>
            <a:off x="2838450" y="1743075"/>
            <a:ext cx="1981200" cy="857250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帧头与校验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2E8DA8-6223-47C9-9273-897904B61601}"/>
              </a:ext>
            </a:extLst>
          </p:cNvPr>
          <p:cNvSpPr>
            <a:spLocks noGrp="1"/>
          </p:cNvSpPr>
          <p:nvPr/>
        </p:nvSpPr>
        <p:spPr>
          <a:xfrm>
            <a:off x="5105400" y="1743075"/>
            <a:ext cx="1981200" cy="857250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解析物理量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37C5E5-F232-4459-9918-6C1C02879642}"/>
              </a:ext>
            </a:extLst>
          </p:cNvPr>
          <p:cNvSpPr>
            <a:spLocks noGrp="1"/>
          </p:cNvSpPr>
          <p:nvPr/>
        </p:nvSpPr>
        <p:spPr>
          <a:xfrm>
            <a:off x="7372350" y="1743075"/>
            <a:ext cx="1981200" cy="857250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组装完整样本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766026-85B4-489E-B414-3498ACD1AE09}"/>
              </a:ext>
            </a:extLst>
          </p:cNvPr>
          <p:cNvSpPr>
            <a:spLocks noGrp="1"/>
          </p:cNvSpPr>
          <p:nvPr/>
        </p:nvSpPr>
        <p:spPr>
          <a:xfrm>
            <a:off x="9639300" y="1743075"/>
            <a:ext cx="1981200" cy="857250"/>
          </a:xfrm>
          <a:prstGeom prst="rect">
            <a:avLst/>
          </a:prstGeom>
          <a:solidFill>
            <a:srgbClr val="F0F5F8"/>
          </a:solidFill>
          <a:ln w="15240">
            <a:solidFill>
              <a:srgbClr val="24867C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UDP发送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795604-8C43-40C7-A236-9F4949653E4B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WIT原始数据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7077877-55C8-433E-AF6E-9FA4470E3F6A}"/>
              </a:ext>
            </a:extLst>
          </p:cNvPr>
          <p:cNvGraphicFramePr/>
          <p:nvPr/>
        </p:nvGraphicFramePr>
        <p:xfrm>
          <a:off x="571500" y="3600450"/>
          <a:ext cx="5143500" cy="21336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帧类型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0x51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三轴加速度、温度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0x52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三轴角速度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0x53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三轴姿态角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7EE02544-48B7-4018-B6B0-F1B0A380D116}"/>
              </a:ext>
            </a:extLst>
          </p:cNvPr>
          <p:cNvSpPr>
            <a:spLocks noGrp="1"/>
          </p:cNvSpPr>
          <p:nvPr/>
        </p:nvSpPr>
        <p:spPr>
          <a:xfrm>
            <a:off x="6572250" y="3057525"/>
            <a:ext cx="5000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上位机收到的数据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94E692-A225-428C-885E-EAA488919B34}"/>
              </a:ext>
            </a:extLst>
          </p:cNvPr>
          <p:cNvSpPr>
            <a:spLocks noGrp="1"/>
          </p:cNvSpPr>
          <p:nvPr/>
        </p:nvSpPr>
        <p:spPr>
          <a:xfrm>
            <a:off x="6572250" y="3686175"/>
            <a:ext cx="4953000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EB90外层封装，type为0x82</a:t>
            </a:r>
          </a:p>
          <a:p>
            <a: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JSON包含序号、时间戳及物理量</a:t>
            </a:r>
          </a:p>
          <a:p>
            <a: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目标端口20002，实测约10Hz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C73CB8-2F04-4017-9D75-40A552EB5A35}"/>
              </a:ext>
            </a:extLst>
          </p:cNvPr>
          <p:cNvSpPr>
            <a:spLocks noGrp="1"/>
          </p:cNvSpPr>
          <p:nvPr/>
        </p:nvSpPr>
        <p:spPr>
          <a:xfrm>
            <a:off x="6572250" y="5391150"/>
            <a:ext cx="495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接收端检查：长度、校验和、序号连续性</a:t>
            </a:r>
          </a:p>
        </p:txBody>
      </p:sp>
    </p:spTree>
    <p:extLst>
      <p:ext uri="{BB962C8B-B14F-4D97-AF65-F5344CB8AC3E}">
        <p14:creationId xmlns:p14="http://schemas.microsoft.com/office/powerpoint/2010/main" val="115777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0AA7E03-247E-408B-BC25-E88F541B8A93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>
            <a:off x="7683500" y="2695575"/>
            <a:ext cx="762000" cy="0"/>
          </a:xfrm>
          <a:prstGeom prst="straightConnector1">
            <a:avLst/>
          </a:prstGeom>
          <a:ln w="19050">
            <a:solidFill>
              <a:srgbClr val="B16D22"/>
            </a:solidFill>
            <a:tail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09A90B3-E3B2-43FA-A85D-5A9BB183D253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3746500" y="2695575"/>
            <a:ext cx="762000" cy="0"/>
          </a:xfrm>
          <a:prstGeom prst="straightConnector1">
            <a:avLst/>
          </a:prstGeom>
          <a:ln w="19050">
            <a:solidFill>
              <a:srgbClr val="B16D22"/>
            </a:solidFill>
            <a:tail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6CC6C65-7B4D-48DD-A40E-7D2057B89D2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683500" y="2695575"/>
            <a:ext cx="762000" cy="0"/>
          </a:xfrm>
          <a:prstGeom prst="straightConnector1">
            <a:avLst/>
          </a:prstGeom>
          <a:ln w="19050">
            <a:solidFill>
              <a:srgbClr val="B16D22"/>
            </a:solidFill>
            <a:tailEnd type="arrow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A7F7159-6DC5-41C8-BE0F-09DCC609301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746500" y="2695575"/>
            <a:ext cx="762000" cy="0"/>
          </a:xfrm>
          <a:prstGeom prst="straightConnector1">
            <a:avLst/>
          </a:prstGeom>
          <a:ln w="19050">
            <a:solidFill>
              <a:srgbClr val="B16D22"/>
            </a:solidFill>
            <a:tailEnd type="arrow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8C115337-9C44-4D42-9143-B863C02B2A9F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转台模块：RS422与UDP双向网关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EED45EBB-CBD6-4468-84D6-7545B9D26F42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A911E9-9C46-4377-A7FC-5012FC9F17C0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7DA02F-455A-4507-9A36-12DCA7B6619D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11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1C3337-0AA1-4D82-B8B1-4B579C036407}"/>
              </a:ext>
            </a:extLst>
          </p:cNvPr>
          <p:cNvSpPr>
            <a:spLocks noGrp="1"/>
          </p:cNvSpPr>
          <p:nvPr/>
        </p:nvSpPr>
        <p:spPr>
          <a:xfrm>
            <a:off x="571500" y="2105025"/>
            <a:ext cx="3175000" cy="1181100"/>
          </a:xfrm>
          <a:prstGeom prst="rect">
            <a:avLst/>
          </a:prstGeom>
          <a:solidFill>
            <a:srgbClr val="F0F5F8"/>
          </a:solidFill>
          <a:ln w="15240">
            <a:solidFill>
              <a:srgbClr val="B16D2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  <a:p>
            <a: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控制与状态监视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3BCA78-D82C-40DB-82A9-8B22783FD94B}"/>
              </a:ext>
            </a:extLst>
          </p:cNvPr>
          <p:cNvSpPr>
            <a:spLocks noGrp="1"/>
          </p:cNvSpPr>
          <p:nvPr/>
        </p:nvSpPr>
        <p:spPr>
          <a:xfrm>
            <a:off x="4508500" y="2105025"/>
            <a:ext cx="3175000" cy="1181100"/>
          </a:xfrm>
          <a:prstGeom prst="rect">
            <a:avLst/>
          </a:prstGeom>
          <a:solidFill>
            <a:srgbClr val="F0F5F8"/>
          </a:solidFill>
          <a:ln w="15240">
            <a:solidFill>
              <a:srgbClr val="B16D2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RK3568</a:t>
            </a:r>
          </a:p>
          <a:p>
            <a: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AA协议网关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A491BD-80C7-400B-85E9-6D29B67E901B}"/>
              </a:ext>
            </a:extLst>
          </p:cNvPr>
          <p:cNvSpPr>
            <a:spLocks noGrp="1"/>
          </p:cNvSpPr>
          <p:nvPr/>
        </p:nvSpPr>
        <p:spPr>
          <a:xfrm>
            <a:off x="8445500" y="2105025"/>
            <a:ext cx="3175000" cy="1181100"/>
          </a:xfrm>
          <a:prstGeom prst="rect">
            <a:avLst/>
          </a:prstGeom>
          <a:solidFill>
            <a:srgbClr val="F0F5F8"/>
          </a:solidFill>
          <a:ln w="15240">
            <a:solidFill>
              <a:srgbClr val="B16D2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伺服转台</a:t>
            </a:r>
          </a:p>
          <a:p>
            <a:pPr algn="ctr">
              <a:def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RS422接口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6E2F86-0CEC-4306-A1BA-57D261FCD8CF}"/>
              </a:ext>
            </a:extLst>
          </p:cNvPr>
          <p:cNvSpPr>
            <a:spLocks noGrp="1"/>
          </p:cNvSpPr>
          <p:nvPr/>
        </p:nvSpPr>
        <p:spPr>
          <a:xfrm>
            <a:off x="3019425" y="1628775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UDP 20003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A6CAF7-44D7-408F-8A10-52FBD28D687C}"/>
              </a:ext>
            </a:extLst>
          </p:cNvPr>
          <p:cNvSpPr>
            <a:spLocks noGrp="1"/>
          </p:cNvSpPr>
          <p:nvPr/>
        </p:nvSpPr>
        <p:spPr>
          <a:xfrm>
            <a:off x="7096125" y="1628775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USB-RS422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C3B17B-3D08-49A6-8E6E-3396E60F2A39}"/>
              </a:ext>
            </a:extLst>
          </p:cNvPr>
          <p:cNvSpPr>
            <a:spLocks noGrp="1"/>
          </p:cNvSpPr>
          <p:nvPr/>
        </p:nvSpPr>
        <p:spPr>
          <a:xfrm>
            <a:off x="571500" y="4048125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下行控制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11C6AA-AFEE-47F2-A551-C1A5FA8C2ABB}"/>
              </a:ext>
            </a:extLst>
          </p:cNvPr>
          <p:cNvSpPr>
            <a:spLocks noGrp="1"/>
          </p:cNvSpPr>
          <p:nvPr/>
        </p:nvSpPr>
        <p:spPr>
          <a:xfrm>
            <a:off x="571500" y="4495800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来源和协议合法性校验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完整AA帧写入转台串口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4D30B6-B0DB-45A1-829D-DC85B5B0D9AE}"/>
              </a:ext>
            </a:extLst>
          </p:cNvPr>
          <p:cNvSpPr>
            <a:spLocks noGrp="1"/>
          </p:cNvSpPr>
          <p:nvPr/>
        </p:nvSpPr>
        <p:spPr>
          <a:xfrm>
            <a:off x="6562725" y="4048125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上行状态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50646B-9C23-4760-BE02-BB8505A4A3CF}"/>
              </a:ext>
            </a:extLst>
          </p:cNvPr>
          <p:cNvSpPr>
            <a:spLocks noGrp="1"/>
          </p:cNvSpPr>
          <p:nvPr/>
        </p:nvSpPr>
        <p:spPr>
          <a:xfrm>
            <a:off x="6562725" y="4495800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串口分片重组与校验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应答和周期状态回传上位机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19A1E2-CC3D-4DC7-B994-C4E971972B9E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独立FTDI设备路径，115200、8N1，与惯导通道分开运行</a:t>
            </a:r>
          </a:p>
        </p:txBody>
      </p:sp>
    </p:spTree>
    <p:extLst>
      <p:ext uri="{BB962C8B-B14F-4D97-AF65-F5344CB8AC3E}">
        <p14:creationId xmlns:p14="http://schemas.microsoft.com/office/powerpoint/2010/main" val="159477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B464171-1FBB-49F6-9C8A-B69C00BC2279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转台协议解析与异常处理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4BA33CAE-E1F3-4ECD-86A2-E2476213780B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0847AD-34B6-4FD4-9861-81070C65F7EF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5A110D-563D-4A92-B29A-1102E0339AAB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12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26CF75-03AF-4812-9CE1-CA6C1D3E8A49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AA原生帧结构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349324-3852-48D6-A0A6-F5047F96641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1847850" cy="714375"/>
          </a:xfrm>
          <a:prstGeom prst="rect">
            <a:avLst/>
          </a:prstGeom>
          <a:solidFill>
            <a:srgbClr val="FAF2E9"/>
          </a:solidFill>
          <a:ln w="15240">
            <a:solidFill>
              <a:srgbClr val="B16D2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AA帧头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FFFBA3-116B-4AC4-A309-813F863022DB}"/>
              </a:ext>
            </a:extLst>
          </p:cNvPr>
          <p:cNvSpPr>
            <a:spLocks noGrp="1"/>
          </p:cNvSpPr>
          <p:nvPr/>
        </p:nvSpPr>
        <p:spPr>
          <a:xfrm>
            <a:off x="2419350" y="2076450"/>
            <a:ext cx="1847850" cy="71437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长度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5F22B3-FDB0-44A4-BE7F-07FB475B0C2C}"/>
              </a:ext>
            </a:extLst>
          </p:cNvPr>
          <p:cNvSpPr>
            <a:spLocks noGrp="1"/>
          </p:cNvSpPr>
          <p:nvPr/>
        </p:nvSpPr>
        <p:spPr>
          <a:xfrm>
            <a:off x="4267200" y="2076450"/>
            <a:ext cx="1847850" cy="71437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设备ID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902C3B-8B45-4769-80B5-AE4D69D073AE}"/>
              </a:ext>
            </a:extLst>
          </p:cNvPr>
          <p:cNvSpPr>
            <a:spLocks noGrp="1"/>
          </p:cNvSpPr>
          <p:nvPr/>
        </p:nvSpPr>
        <p:spPr>
          <a:xfrm>
            <a:off x="6115050" y="2076450"/>
            <a:ext cx="1847850" cy="71437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命令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F0736C-5D97-4841-97FC-FE4D89CD229B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1847850" cy="71437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参数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433671-489B-433D-9D94-6D482F647266}"/>
              </a:ext>
            </a:extLst>
          </p:cNvPr>
          <p:cNvSpPr>
            <a:spLocks noGrp="1"/>
          </p:cNvSpPr>
          <p:nvPr/>
        </p:nvSpPr>
        <p:spPr>
          <a:xfrm>
            <a:off x="9810750" y="2076450"/>
            <a:ext cx="1847850" cy="71437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校验和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D917F8-7294-4B41-94CE-82E2F2E1C2C2}"/>
              </a:ext>
            </a:extLst>
          </p:cNvPr>
          <p:cNvSpPr>
            <a:spLocks noGrp="1"/>
          </p:cNvSpPr>
          <p:nvPr/>
        </p:nvSpPr>
        <p:spPr>
          <a:xfrm>
            <a:off x="571500" y="335280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串口流解析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035114-CDB2-4AB9-9E96-DEC2D0571FB6}"/>
              </a:ext>
            </a:extLst>
          </p:cNvPr>
          <p:cNvSpPr>
            <a:spLocks noGrp="1"/>
          </p:cNvSpPr>
          <p:nvPr/>
        </p:nvSpPr>
        <p:spPr>
          <a:xfrm>
            <a:off x="571500" y="3800475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缓存分片，检测帧头并重新同步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结合长度与校验和确定有效帧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072A82-DDDF-4C26-ACD8-216B2C122159}"/>
              </a:ext>
            </a:extLst>
          </p:cNvPr>
          <p:cNvSpPr>
            <a:spLocks noGrp="1"/>
          </p:cNvSpPr>
          <p:nvPr/>
        </p:nvSpPr>
        <p:spPr>
          <a:xfrm>
            <a:off x="6477000" y="335280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网关验证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BAEBD8-A9A6-4D6A-8945-4B3339C3A47C}"/>
              </a:ext>
            </a:extLst>
          </p:cNvPr>
          <p:cNvSpPr>
            <a:spLocks noGrp="1"/>
          </p:cNvSpPr>
          <p:nvPr/>
        </p:nvSpPr>
        <p:spPr>
          <a:xfrm>
            <a:off x="6477000" y="3800475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检查来源、设备ID和命令范围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拒绝错误长度、校验和及禁用命令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31B964-05CF-4E8E-86CF-810477BA719D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实机适配：兼容15 / 16字节状态帧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7EE9CE-B458-47B5-B3B8-65DCD5840FED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保留原生协议格式，在转发前后完成校验和异常数据处理</a:t>
            </a:r>
          </a:p>
        </p:txBody>
      </p:sp>
    </p:spTree>
    <p:extLst>
      <p:ext uri="{BB962C8B-B14F-4D97-AF65-F5344CB8AC3E}">
        <p14:creationId xmlns:p14="http://schemas.microsoft.com/office/powerpoint/2010/main" val="1243550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448F80E-68F3-44E8-8BB5-CF2CB3074C0B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762250" y="2857500"/>
            <a:ext cx="0" cy="714375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AD456F0-864D-4497-A34C-DD31AE234B7B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上位机：设备操作与状态监视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CA44053A-4DA6-48D7-9750-5656D28EE6A8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22C199-2D3C-43C6-9323-E7F69F20A932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38B72B-1205-49A3-B69A-4C3C6D170032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13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B68BAE-114C-4AA8-A749-8849F59CA13C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4381500" cy="104775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实时状态</a:t>
            </a:r>
          </a:p>
          <a:p>
            <a:pPr algn="ctr">
              <a:def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方位 / 俯仰 / 速度 / 故障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651244-4B9E-4DB5-946E-632C2DC05C82}"/>
              </a:ext>
            </a:extLst>
          </p:cNvPr>
          <p:cNvSpPr>
            <a:spLocks noGrp="1"/>
          </p:cNvSpPr>
          <p:nvPr/>
        </p:nvSpPr>
        <p:spPr>
          <a:xfrm>
            <a:off x="571500" y="3571875"/>
            <a:ext cx="4381500" cy="104775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运动准入检查</a:t>
            </a:r>
          </a:p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状态有效、无故障、角度合法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D38FB5-3E44-427F-A1CB-4C667E9B932D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方位范围0～360°，俯仰范围0～90°，异常状态触发停止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71E9E96-A9BA-7A19-9A7E-33849D575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747" y="1204537"/>
            <a:ext cx="6962751" cy="474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6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A9D2BB6-9307-4D7C-A3BF-C7EA3DA991C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53475" y="2652713"/>
            <a:ext cx="4191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06C1A43-82A9-4B2E-B9E9-BF045D467E4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886450" y="2652713"/>
            <a:ext cx="4191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6985C1A-71DB-4AE4-AEFB-DD706CD43BF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019425" y="2652713"/>
            <a:ext cx="41910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D4256FBF-02C6-4B69-A3FA-7BA7F1CA01D3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卫星轨道计算与过境预报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1559A61A-DB73-4AAA-8EF4-5FAF72BA87DD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637D65-18AC-4317-8F88-CC49991BD61D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BCE26C-C320-4DEA-B292-B4CD01572D03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14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A536D6-6D9A-4F3C-AFDB-B150D685BF09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2447925" cy="100012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TLE与时间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BB5D43-FA52-4AE1-9426-4769E04AEF98}"/>
              </a:ext>
            </a:extLst>
          </p:cNvPr>
          <p:cNvSpPr>
            <a:spLocks noGrp="1"/>
          </p:cNvSpPr>
          <p:nvPr/>
        </p:nvSpPr>
        <p:spPr>
          <a:xfrm>
            <a:off x="3438525" y="2152650"/>
            <a:ext cx="2447925" cy="100012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SGP4外推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BEE8A1-330B-4FA5-91DE-34CC73BAD288}"/>
              </a:ext>
            </a:extLst>
          </p:cNvPr>
          <p:cNvSpPr>
            <a:spLocks noGrp="1"/>
          </p:cNvSpPr>
          <p:nvPr/>
        </p:nvSpPr>
        <p:spPr>
          <a:xfrm>
            <a:off x="6305550" y="2152650"/>
            <a:ext cx="2447925" cy="100012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ECEF / ENU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544EB9-F967-41B7-B052-C591CEDB193E}"/>
              </a:ext>
            </a:extLst>
          </p:cNvPr>
          <p:cNvSpPr>
            <a:spLocks noGrp="1"/>
          </p:cNvSpPr>
          <p:nvPr/>
        </p:nvSpPr>
        <p:spPr>
          <a:xfrm>
            <a:off x="9172575" y="2152650"/>
            <a:ext cx="2447925" cy="1000125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方位与俯仰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317B8B-CDED-41AF-B053-3AED87C89541}"/>
              </a:ext>
            </a:extLst>
          </p:cNvPr>
          <p:cNvSpPr>
            <a:spLocks noGrp="1"/>
          </p:cNvSpPr>
          <p:nvPr/>
        </p:nvSpPr>
        <p:spPr>
          <a:xfrm>
            <a:off x="5924550" y="152400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观测站经纬度、海拔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5DC906-4002-4C74-BEF1-13A1361F9828}"/>
              </a:ext>
            </a:extLst>
          </p:cNvPr>
          <p:cNvSpPr>
            <a:spLocks noGrp="1"/>
          </p:cNvSpPr>
          <p:nvPr/>
        </p:nvSpPr>
        <p:spPr>
          <a:xfrm>
            <a:off x="571500" y="38862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输入条件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675E02-4CE7-4A52-98E8-B6DA030BF5D9}"/>
              </a:ext>
            </a:extLst>
          </p:cNvPr>
          <p:cNvSpPr>
            <a:spLocks noGrp="1"/>
          </p:cNvSpPr>
          <p:nvPr/>
        </p:nvSpPr>
        <p:spPr>
          <a:xfrm>
            <a:off x="571500" y="4333875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两行TLE与观测站位置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最低跟踪俯仰角、预报时长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399958-6AE2-457C-90C1-6B32A45FCDC0}"/>
              </a:ext>
            </a:extLst>
          </p:cNvPr>
          <p:cNvSpPr>
            <a:spLocks noGrp="1"/>
          </p:cNvSpPr>
          <p:nvPr/>
        </p:nvSpPr>
        <p:spPr>
          <a:xfrm>
            <a:off x="6515100" y="3886200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预报输出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2F95480-08C5-43C5-887C-B7C683C3217B}"/>
              </a:ext>
            </a:extLst>
          </p:cNvPr>
          <p:cNvSpPr>
            <a:spLocks noGrp="1"/>
          </p:cNvSpPr>
          <p:nvPr/>
        </p:nvSpPr>
        <p:spPr>
          <a:xfrm>
            <a:off x="6515100" y="4333875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进入与离开可跟踪窗口的时刻</a:t>
            </a:r>
          </a:p>
          <a:p>
            <a:pPr algn="l">
              <a:def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最大俯仰角及对应时间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77D8DD-290B-4EAC-9118-5090EF0F5CC6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几何计算产生理论目标角，实际指向精度仍需安装标定与实机测量</a:t>
            </a:r>
          </a:p>
        </p:txBody>
      </p:sp>
    </p:spTree>
    <p:extLst>
      <p:ext uri="{BB962C8B-B14F-4D97-AF65-F5344CB8AC3E}">
        <p14:creationId xmlns:p14="http://schemas.microsoft.com/office/powerpoint/2010/main" val="406449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A23CD13-7A83-4D55-BAEC-B826C1E228A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7763" y="2371725"/>
            <a:ext cx="36195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4092AED-993B-4932-83BF-B59E96EC7A8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15026" y="2371725"/>
            <a:ext cx="361949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5CF4E1F-A5E7-4124-987E-36CF4273266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062288" y="2371725"/>
            <a:ext cx="361950" cy="0"/>
          </a:xfrm>
          <a:prstGeom prst="straightConnector1">
            <a:avLst/>
          </a:prstGeom>
          <a:ln w="19050">
            <a:solidFill>
              <a:srgbClr val="2D6992"/>
            </a:solidFill>
            <a:tailEnd type="arrow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7E90AD7-814D-48C3-9C8D-24AAD714BACA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卫星任务调度与连续跟踪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CA0352A4-F9B7-4B1D-A778-4803F970851A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52DECE-09E3-45D1-8304-1EDE8ED24177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C10E79-5BAB-4CCA-A47C-D0B7A59B8E94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15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2A929F-8808-4D0B-A490-08D14EDFB055}"/>
              </a:ext>
            </a:extLst>
          </p:cNvPr>
          <p:cNvSpPr>
            <a:spLocks noGrp="1"/>
          </p:cNvSpPr>
          <p:nvPr/>
        </p:nvSpPr>
        <p:spPr>
          <a:xfrm>
            <a:off x="571500" y="1876425"/>
            <a:ext cx="2490788" cy="9906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等待过境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BB70EE-B190-45E1-9D89-F44EAA6E7200}"/>
              </a:ext>
            </a:extLst>
          </p:cNvPr>
          <p:cNvSpPr>
            <a:spLocks noGrp="1"/>
          </p:cNvSpPr>
          <p:nvPr/>
        </p:nvSpPr>
        <p:spPr>
          <a:xfrm>
            <a:off x="3424238" y="1876425"/>
            <a:ext cx="2490788" cy="9906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达到跟踪条件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57CA52-3231-4B87-BA5B-678E1344B7C2}"/>
              </a:ext>
            </a:extLst>
          </p:cNvPr>
          <p:cNvSpPr>
            <a:spLocks noGrp="1"/>
          </p:cNvSpPr>
          <p:nvPr/>
        </p:nvSpPr>
        <p:spPr>
          <a:xfrm>
            <a:off x="6276975" y="1876425"/>
            <a:ext cx="2490788" cy="9906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连续定点跟踪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FD8D34-36D0-411B-AA49-29E43DF2D8A7}"/>
              </a:ext>
            </a:extLst>
          </p:cNvPr>
          <p:cNvSpPr>
            <a:spLocks noGrp="1"/>
          </p:cNvSpPr>
          <p:nvPr/>
        </p:nvSpPr>
        <p:spPr>
          <a:xfrm>
            <a:off x="9129713" y="1876425"/>
            <a:ext cx="2490788" cy="990600"/>
          </a:xfrm>
          <a:prstGeom prst="rect">
            <a:avLst/>
          </a:prstGeom>
          <a:solidFill>
            <a:srgbClr val="F0F5F8"/>
          </a:solidFill>
          <a:ln w="15240">
            <a:solidFill>
              <a:srgbClr val="2D6992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离境停止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101D23-8B1E-445E-83E8-F53329B0009A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3714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150 ms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74B675-8E61-4E09-A1DA-ABDE50EA9745}"/>
              </a:ext>
            </a:extLst>
          </p:cNvPr>
          <p:cNvSpPr>
            <a:spLocks noGrp="1"/>
          </p:cNvSpPr>
          <p:nvPr/>
        </p:nvSpPr>
        <p:spPr>
          <a:xfrm>
            <a:off x="590550" y="479107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目标角度更新间隔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F2BED7-10DA-4F13-BD12-CC1759B8B402}"/>
              </a:ext>
            </a:extLst>
          </p:cNvPr>
          <p:cNvSpPr>
            <a:spLocks noGrp="1"/>
          </p:cNvSpPr>
          <p:nvPr/>
        </p:nvSpPr>
        <p:spPr>
          <a:xfrm>
            <a:off x="4905375" y="3619500"/>
            <a:ext cx="6619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每次更新使用当前时间计算目标角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954E90-B1AD-4369-8E56-495A07126244}"/>
              </a:ext>
            </a:extLst>
          </p:cNvPr>
          <p:cNvSpPr>
            <a:spLocks noGrp="1"/>
          </p:cNvSpPr>
          <p:nvPr/>
        </p:nvSpPr>
        <p:spPr>
          <a:xfrm>
            <a:off x="4905375" y="4276725"/>
            <a:ext cx="6619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低于俯仰阈值或离开窗口后停止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827029-8E69-4235-8848-11D0D4A72E47}"/>
              </a:ext>
            </a:extLst>
          </p:cNvPr>
          <p:cNvSpPr>
            <a:spLocks noGrp="1"/>
          </p:cNvSpPr>
          <p:nvPr/>
        </p:nvSpPr>
        <p:spPr>
          <a:xfrm>
            <a:off x="4905375" y="4933950"/>
            <a:ext cx="6619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F493D"/>
                </a:solidFill>
                <a:latin typeface="Microsoft YaHei"/>
                <a:ea typeface="Microsoft YaHei"/>
                <a:cs typeface="Microsoft YaHei"/>
              </a:rPr>
              <a:t>状态超时、故障或计算异常时停止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ADC7F0-AFC8-478F-BA19-E05950D881DB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29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更新间隔属于软件设计参数，实际跟踪误差与机械动态响应待实测</a:t>
            </a:r>
          </a:p>
        </p:txBody>
      </p:sp>
    </p:spTree>
    <p:extLst>
      <p:ext uri="{BB962C8B-B14F-4D97-AF65-F5344CB8AC3E}">
        <p14:creationId xmlns:p14="http://schemas.microsoft.com/office/powerpoint/2010/main" val="1433236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E9DC92F-24A1-4EA8-B070-FEEFB36F221C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系统可靠性与运行保障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DADB2E9A-B2B7-4304-A558-0F69B025C807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25B7D8-6A93-4E6C-B1B7-8EFE68485039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模块实现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2C137D-2AD4-4111-8B6B-01007504CE11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16 / 20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71682FF-1EB3-4080-B27A-66A9A988192E}"/>
              </a:ext>
            </a:extLst>
          </p:cNvPr>
          <p:cNvGraphicFramePr/>
          <p:nvPr/>
        </p:nvGraphicFramePr>
        <p:xfrm>
          <a:off x="571500" y="1762125"/>
          <a:ext cx="11049000" cy="33337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实现措施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设备接入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稳定by-id路径，串口排他锁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设备是否对应，是否重复占用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通信处理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帧校验、重同步、样本序号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数据是否有效，是否连续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应用控制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角度范围、状态超时、故障停止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命令是否合理，反馈是否及时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服务运行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systemd自启、重启与日志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进程状态、异常次数和运行记录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1782F36-3459-490B-9C15-FC7E70BDA2F8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服务运行正常、业务数据有效、运动符合预期，需要分别验证</a:t>
            </a:r>
          </a:p>
        </p:txBody>
      </p:sp>
    </p:spTree>
    <p:extLst>
      <p:ext uri="{BB962C8B-B14F-4D97-AF65-F5344CB8AC3E}">
        <p14:creationId xmlns:p14="http://schemas.microsoft.com/office/powerpoint/2010/main" val="1694652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A040F8D-16C2-4571-9007-5E684FCDE3C3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模块验证结果与阶段进展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C978BC2D-DDA6-4EDF-8AA2-DB18BA3D451C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CAA6BD-090F-41EA-AF84-DD1F7B8DFA9D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验证与问题总结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2166E-F6F9-43AE-907A-871435C8D207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17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D43D00-4FBF-47EE-B07F-16447D8C7403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314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50包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5065B-8FA4-40F0-B5D9-299C2098A23C}"/>
              </a:ext>
            </a:extLst>
          </p:cNvPr>
          <p:cNvSpPr>
            <a:spLocks noGrp="1"/>
          </p:cNvSpPr>
          <p:nvPr/>
        </p:nvSpPr>
        <p:spPr>
          <a:xfrm>
            <a:off x="571500" y="22574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连续接收样本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87B59F-6D8E-42D6-B3AC-CED939873395}"/>
              </a:ext>
            </a:extLst>
          </p:cNvPr>
          <p:cNvSpPr>
            <a:spLocks noGrp="1"/>
          </p:cNvSpPr>
          <p:nvPr/>
        </p:nvSpPr>
        <p:spPr>
          <a:xfrm>
            <a:off x="4429125" y="1438275"/>
            <a:ext cx="3143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0丢包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E90C31-0F9E-4129-8A90-61469B916688}"/>
              </a:ext>
            </a:extLst>
          </p:cNvPr>
          <p:cNvSpPr>
            <a:spLocks noGrp="1"/>
          </p:cNvSpPr>
          <p:nvPr/>
        </p:nvSpPr>
        <p:spPr>
          <a:xfrm>
            <a:off x="4429125" y="22574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本次短时测试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B7BD5-0FC5-47D7-8591-0CB174CD4878}"/>
              </a:ext>
            </a:extLst>
          </p:cNvPr>
          <p:cNvSpPr>
            <a:spLocks noGrp="1"/>
          </p:cNvSpPr>
          <p:nvPr/>
        </p:nvSpPr>
        <p:spPr>
          <a:xfrm>
            <a:off x="8286750" y="1438275"/>
            <a:ext cx="3333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10.02 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4569BF-4099-4D76-B2C2-86E3E45F3968}"/>
              </a:ext>
            </a:extLst>
          </p:cNvPr>
          <p:cNvSpPr>
            <a:spLocks noGrp="1"/>
          </p:cNvSpPr>
          <p:nvPr/>
        </p:nvSpPr>
        <p:spPr>
          <a:xfrm>
            <a:off x="8286750" y="2257425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2026年10月20日USB惯导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1495609-E294-44A1-A85E-FAB486D4FEF0}"/>
              </a:ext>
            </a:extLst>
          </p:cNvPr>
          <p:cNvGraphicFramePr/>
          <p:nvPr/>
        </p:nvGraphicFramePr>
        <p:xfrm>
          <a:off x="571500" y="3105150"/>
          <a:ext cx="11049000" cy="27622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已有依据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验证边界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摄像头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网络、视频与历史光纤链路通过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当前配置仍需并发复测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惯导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USB链路50包连续，校验正确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短时验证，非长期可靠性结论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转台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状态回传、查询及停止应答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步进命令禁用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卫星跟踪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算法与任务状态机已有实现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实机跟踪精度待验收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740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91325E1-BDA4-4051-85E4-2B89D469B568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当前问题与验证缺口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766D71C3-B04F-43E1-B641-5346D01D18A5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191177-EAD1-4600-A356-338ABA045ACD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验证与问题总结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97C6C7-6612-469D-9DEA-A881838EBBC4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19 / 20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4DA724-2C8C-44B8-8346-2349FB39E8EE}"/>
              </a:ext>
            </a:extLst>
          </p:cNvPr>
          <p:cNvGraphicFramePr/>
          <p:nvPr/>
        </p:nvGraphicFramePr>
        <p:xfrm>
          <a:off x="571500" y="1809750"/>
          <a:ext cx="11049000" cy="357187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待解决问题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下一步验证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>
                      <a:solidFill>
                        <a:srgbClr val="CDD9E1"/>
                      </a:solidFill>
                      <a:prstDash val="soli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1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转台步进语义异常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已禁用相关命令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厂家确认协议与实机行为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三路并发及长期运行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单模块已有记录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视频、姿态、运动同时运行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实际卫星跟踪误差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缺少实测精度依据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零位、方向、时间及误差测量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整机集成链路</a:t>
                      </a:r>
                    </a:p>
                  </a:txBody>
                  <a:tcPr anchor="ctr">
                    <a:lnL w="9525">
                      <a:solidFill>
                        <a:srgbClr val="CDD9E1"/>
                      </a:solidFill>
                      <a:prstDash val="soli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射频与供电证据待补充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按总体方案逐项验收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9E1"/>
                      </a:solidFill>
                      <a:prstDash val="solid"/>
                    </a:lnR>
                    <a:lnT w="9525" cap="flat" cmpd="sng" algn="ctr">
                      <a:solidFill>
                        <a:srgbClr val="CD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9E1"/>
                      </a:solidFill>
                      <a:prstDash val="solid"/>
                    </a:lnB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D47B0C8-6360-44EF-8131-5FD96F79F53F}"/>
              </a:ext>
            </a:extLst>
          </p:cNvPr>
          <p:cNvSpPr>
            <a:spLocks noGrp="1"/>
          </p:cNvSpPr>
          <p:nvPr/>
        </p:nvSpPr>
        <p:spPr>
          <a:xfrm>
            <a:off x="571500" y="5705475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16D22"/>
                </a:solidFill>
                <a:latin typeface="Microsoft YaHei"/>
                <a:ea typeface="Microsoft YaHei"/>
                <a:cs typeface="Microsoft YaHei"/>
              </a:rPr>
              <a:t>优先确认控制语义并验证运动行为，再推进整机长期测试</a:t>
            </a:r>
          </a:p>
        </p:txBody>
      </p:sp>
    </p:spTree>
    <p:extLst>
      <p:ext uri="{BB962C8B-B14F-4D97-AF65-F5344CB8AC3E}">
        <p14:creationId xmlns:p14="http://schemas.microsoft.com/office/powerpoint/2010/main" val="1641242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982F1CE-34AE-4DEA-9C1B-FCD45E3D8CE5}"/>
              </a:ext>
            </a:extLst>
          </p:cNvPr>
          <p:cNvSpPr>
            <a:spLocks noGrp="1"/>
          </p:cNvSpPr>
          <p:nvPr/>
        </p:nvSpPr>
        <p:spPr>
          <a:xfrm>
            <a:off x="552450" y="37147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阶段总结与下一步计划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FAE2F06E-CC48-42DC-B197-212A59B2637F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ln w="12383">
            <a:solidFill>
              <a:srgbClr val="17364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8D5620-BE99-4D82-9C42-1054B021D573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总结与讨论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5334BE-AACF-4EF7-959A-C78E7C90F72D}"/>
              </a:ext>
            </a:extLst>
          </p:cNvPr>
          <p:cNvSpPr>
            <a:spLocks noGrp="1"/>
          </p:cNvSpPr>
          <p:nvPr/>
        </p:nvSpPr>
        <p:spPr>
          <a:xfrm>
            <a:off x="10572750" y="64484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1"/>
                </a:solidFill>
                <a:latin typeface="Microsoft YaHei"/>
                <a:ea typeface="Microsoft YaHei"/>
                <a:cs typeface="Microsoft YaHei"/>
              </a:rPr>
              <a:t>20 / 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F2C983-2B0C-4868-AB28-816D33452744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已形成设备接入、数据传输与上位机控制的完整软件链路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E288E4-AA1B-4213-AFC7-926FBEA2A374}"/>
              </a:ext>
            </a:extLst>
          </p:cNvPr>
          <p:cNvSpPr>
            <a:spLocks noGrp="1"/>
          </p:cNvSpPr>
          <p:nvPr/>
        </p:nvSpPr>
        <p:spPr>
          <a:xfrm>
            <a:off x="571500" y="2762250"/>
            <a:ext cx="809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332E04-95C5-4FD7-B2AF-F3BA39FCA4F5}"/>
              </a:ext>
            </a:extLst>
          </p:cNvPr>
          <p:cNvSpPr>
            <a:spLocks noGrp="1"/>
          </p:cNvSpPr>
          <p:nvPr/>
        </p:nvSpPr>
        <p:spPr>
          <a:xfrm>
            <a:off x="1619250" y="2762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协议与标定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42E74C-758B-4033-86F9-F579C3949956}"/>
              </a:ext>
            </a:extLst>
          </p:cNvPr>
          <p:cNvSpPr>
            <a:spLocks noGrp="1"/>
          </p:cNvSpPr>
          <p:nvPr/>
        </p:nvSpPr>
        <p:spPr>
          <a:xfrm>
            <a:off x="4572000" y="2762250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确认转台协议差异，核对安装零位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BB95D4-88E9-467B-954A-7FAD2B45CE6D}"/>
              </a:ext>
            </a:extLst>
          </p:cNvPr>
          <p:cNvSpPr>
            <a:spLocks noGrp="1"/>
          </p:cNvSpPr>
          <p:nvPr/>
        </p:nvSpPr>
        <p:spPr>
          <a:xfrm>
            <a:off x="571500" y="3495675"/>
            <a:ext cx="809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4A7156-D0B7-444A-8714-60CBD00F0B58}"/>
              </a:ext>
            </a:extLst>
          </p:cNvPr>
          <p:cNvSpPr>
            <a:spLocks noGrp="1"/>
          </p:cNvSpPr>
          <p:nvPr/>
        </p:nvSpPr>
        <p:spPr>
          <a:xfrm>
            <a:off x="1619250" y="349567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并发与稳定性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F3199B-49F6-4FBE-B1B1-8E20AFA39059}"/>
              </a:ext>
            </a:extLst>
          </p:cNvPr>
          <p:cNvSpPr>
            <a:spLocks noGrp="1"/>
          </p:cNvSpPr>
          <p:nvPr/>
        </p:nvSpPr>
        <p:spPr>
          <a:xfrm>
            <a:off x="4572000" y="349567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完成当前接线下的三路业务与长时间测试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47114E-7F7C-4C5C-BB78-A46E7C8F2F4D}"/>
              </a:ext>
            </a:extLst>
          </p:cNvPr>
          <p:cNvSpPr>
            <a:spLocks noGrp="1"/>
          </p:cNvSpPr>
          <p:nvPr/>
        </p:nvSpPr>
        <p:spPr>
          <a:xfrm>
            <a:off x="571500" y="4229100"/>
            <a:ext cx="809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13F03E-0821-4F01-A65D-7757D7BDBAA1}"/>
              </a:ext>
            </a:extLst>
          </p:cNvPr>
          <p:cNvSpPr>
            <a:spLocks noGrp="1"/>
          </p:cNvSpPr>
          <p:nvPr/>
        </p:nvSpPr>
        <p:spPr>
          <a:xfrm>
            <a:off x="1619250" y="42291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实机卫星任务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6D96D3-6727-46B2-B84D-C2C71201D9A7}"/>
              </a:ext>
            </a:extLst>
          </p:cNvPr>
          <p:cNvSpPr>
            <a:spLocks noGrp="1"/>
          </p:cNvSpPr>
          <p:nvPr/>
        </p:nvSpPr>
        <p:spPr>
          <a:xfrm>
            <a:off x="4572000" y="4229100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记录目标角、反馈角及异常停止表现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E47551-2674-4D44-ABFC-17F485211437}"/>
              </a:ext>
            </a:extLst>
          </p:cNvPr>
          <p:cNvSpPr>
            <a:spLocks noGrp="1"/>
          </p:cNvSpPr>
          <p:nvPr/>
        </p:nvSpPr>
        <p:spPr>
          <a:xfrm>
            <a:off x="571500" y="4962525"/>
            <a:ext cx="809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D69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EF8769-269F-4542-BCF9-95D97AAE9E66}"/>
              </a:ext>
            </a:extLst>
          </p:cNvPr>
          <p:cNvSpPr>
            <a:spLocks noGrp="1"/>
          </p:cNvSpPr>
          <p:nvPr/>
        </p:nvSpPr>
        <p:spPr>
          <a:xfrm>
            <a:off x="1619250" y="496252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64F"/>
                </a:solidFill>
                <a:latin typeface="Microsoft YaHei"/>
                <a:ea typeface="Microsoft YaHei"/>
                <a:cs typeface="Microsoft YaHei"/>
              </a:rPr>
              <a:t>整机集成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1AF3F4-7A98-43FE-9385-39D87CBDA1AF}"/>
              </a:ext>
            </a:extLst>
          </p:cNvPr>
          <p:cNvSpPr>
            <a:spLocks noGrp="1"/>
          </p:cNvSpPr>
          <p:nvPr/>
        </p:nvSpPr>
        <p:spPr>
          <a:xfrm>
            <a:off x="4572000" y="49625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B4B"/>
                </a:solidFill>
                <a:latin typeface="Microsoft YaHei"/>
                <a:ea typeface="Microsoft YaHei"/>
                <a:cs typeface="Microsoft YaHei"/>
              </a:rPr>
              <a:t>补充光纤、射频与供电链路验收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1F5814-31AE-4220-85C0-F91FBD31E0F8}"/>
              </a:ext>
            </a:extLst>
          </p:cNvPr>
          <p:cNvSpPr>
            <a:spLocks noGrp="1"/>
          </p:cNvSpPr>
          <p:nvPr/>
        </p:nvSpPr>
        <p:spPr>
          <a:xfrm>
            <a:off x="571500" y="5991225"/>
            <a:ext cx="1104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867C"/>
                </a:solidFill>
                <a:latin typeface="Microsoft YaHei"/>
                <a:ea typeface="Microsoft YaHei"/>
                <a:cs typeface="Microsoft YaHei"/>
              </a:rPr>
              <a:t>讨论与建议</a:t>
            </a:r>
          </a:p>
        </p:txBody>
      </p:sp>
    </p:spTree>
    <p:extLst>
      <p:ext uri="{BB962C8B-B14F-4D97-AF65-F5344CB8AC3E}">
        <p14:creationId xmlns:p14="http://schemas.microsoft.com/office/powerpoint/2010/main" val="2494327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1600</Words>
  <Application>Microsoft Office PowerPoint</Application>
  <DocSecurity>0</DocSecurity>
  <PresentationFormat>宽屏</PresentationFormat>
  <Paragraphs>412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Lewis Ray</cp:lastModifiedBy>
  <cp:revision>2</cp:revision>
  <dcterms:created xsi:type="dcterms:W3CDTF">2026-10-20T13:17:34Z</dcterms:created>
  <dcterms:modified xsi:type="dcterms:W3CDTF">2026-10-20T13:30:09Z</dcterms:modified>
</cp:coreProperties>
</file>